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e4a60ca13a4494" /><Relationship Type="http://schemas.openxmlformats.org/officeDocument/2006/relationships/extended-properties" Target="/docProps/app.xml" Id="R923a36ffe2724311" /><Relationship Type="http://schemas.openxmlformats.org/officeDocument/2006/relationships/officeDocument" Target="/ppt/presentation.xml" Id="R41e6a4eb9f394b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1ebcdd283449da"/>
  </p:sldMasterIdLst>
  <p:notesMasterIdLst>
    <p:notesMasterId xmlns:r="http://schemas.openxmlformats.org/officeDocument/2006/relationships" r:id="R575aa5a6354e45f4"/>
  </p:notesMasterIdLst>
  <p:sldIdLst>
    <p:sldId xmlns:r="http://schemas.openxmlformats.org/officeDocument/2006/relationships" id="256" r:id="Ra5d1453741b24ff1"/>
    <p:sldId xmlns:r="http://schemas.openxmlformats.org/officeDocument/2006/relationships" id="257" r:id="R08ff5e37f1164257"/>
    <p:sldId xmlns:r="http://schemas.openxmlformats.org/officeDocument/2006/relationships" id="258" r:id="R9470e5b34e174c51"/>
    <p:sldId xmlns:r="http://schemas.openxmlformats.org/officeDocument/2006/relationships" id="259" r:id="R32d6bfdc361449f4"/>
    <p:sldId xmlns:r="http://schemas.openxmlformats.org/officeDocument/2006/relationships" id="260" r:id="R9a5ced41678e4b07"/>
    <p:sldId xmlns:r="http://schemas.openxmlformats.org/officeDocument/2006/relationships" id="261" r:id="R2f42caab5981458e"/>
    <p:sldId xmlns:r="http://schemas.openxmlformats.org/officeDocument/2006/relationships" id="262" r:id="R37463e7817f24b8e"/>
    <p:sldId xmlns:r="http://schemas.openxmlformats.org/officeDocument/2006/relationships" id="263" r:id="R269593373ff64782"/>
    <p:sldId xmlns:r="http://schemas.openxmlformats.org/officeDocument/2006/relationships" id="264" r:id="R79b176aa56744387"/>
    <p:sldId xmlns:r="http://schemas.openxmlformats.org/officeDocument/2006/relationships" id="265" r:id="R46ea619077034c4d"/>
    <p:sldId xmlns:r="http://schemas.openxmlformats.org/officeDocument/2006/relationships" id="266" r:id="R7abba70215a041c3"/>
    <p:sldId xmlns:r="http://schemas.openxmlformats.org/officeDocument/2006/relationships" id="267" r:id="R467d20ccb18f4d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80efac42a74689" /><Relationship Type="http://schemas.openxmlformats.org/officeDocument/2006/relationships/slideMaster" Target="/ppt/slideMasters/slideMaster1.xml" Id="R561ebcdd283449da" /><Relationship Type="http://schemas.openxmlformats.org/officeDocument/2006/relationships/notesMaster" Target="/ppt/notesMasters/notesMaster1.xml" Id="R575aa5a6354e45f4" /><Relationship Type="http://schemas.openxmlformats.org/officeDocument/2006/relationships/presProps" Target="/ppt/presProps.xml" Id="Red33745068ee47c9" /><Relationship Type="http://schemas.openxmlformats.org/officeDocument/2006/relationships/tableStyles" Target="/ppt/tableStyles.xml" Id="Rea2bb29033294b5a" /><Relationship Type="http://schemas.openxmlformats.org/officeDocument/2006/relationships/slide" Target="/ppt/slides/slide1.xml" Id="Ra5d1453741b24ff1" /><Relationship Type="http://schemas.openxmlformats.org/officeDocument/2006/relationships/slide" Target="/ppt/slides/slide2.xml" Id="R08ff5e37f1164257" /><Relationship Type="http://schemas.openxmlformats.org/officeDocument/2006/relationships/slide" Target="/ppt/slides/slide3.xml" Id="R9470e5b34e174c51" /><Relationship Type="http://schemas.openxmlformats.org/officeDocument/2006/relationships/slide" Target="/ppt/slides/slide4.xml" Id="R32d6bfdc361449f4" /><Relationship Type="http://schemas.openxmlformats.org/officeDocument/2006/relationships/slide" Target="/ppt/slides/slide5.xml" Id="R9a5ced41678e4b07" /><Relationship Type="http://schemas.openxmlformats.org/officeDocument/2006/relationships/slide" Target="/ppt/slides/slide6.xml" Id="R2f42caab5981458e" /><Relationship Type="http://schemas.openxmlformats.org/officeDocument/2006/relationships/slide" Target="/ppt/slides/slide7.xml" Id="R37463e7817f24b8e" /><Relationship Type="http://schemas.openxmlformats.org/officeDocument/2006/relationships/slide" Target="/ppt/slides/slide8.xml" Id="R269593373ff64782" /><Relationship Type="http://schemas.openxmlformats.org/officeDocument/2006/relationships/slide" Target="/ppt/slides/slide9.xml" Id="R79b176aa56744387" /><Relationship Type="http://schemas.openxmlformats.org/officeDocument/2006/relationships/slide" Target="/ppt/slides/slide10.xml" Id="R46ea619077034c4d" /><Relationship Type="http://schemas.openxmlformats.org/officeDocument/2006/relationships/slide" Target="/ppt/slides/slide11.xml" Id="R7abba70215a041c3" /><Relationship Type="http://schemas.openxmlformats.org/officeDocument/2006/relationships/slide" Target="/ppt/slides/slide12.xml" Id="R467d20ccb18f4d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f42c96655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eb00409dfd470a" /><Relationship Type="http://schemas.openxmlformats.org/officeDocument/2006/relationships/notesMaster" Target="/ppt/notesMasters/notesMaster1.xml" Id="R2164adb366984b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25f082a5f04860" /><Relationship Type="http://schemas.openxmlformats.org/officeDocument/2006/relationships/notesMaster" Target="/ppt/notesMasters/notesMaster1.xml" Id="R2d83d95333df48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e78f08b004a55" /><Relationship Type="http://schemas.openxmlformats.org/officeDocument/2006/relationships/notesMaster" Target="/ppt/notesMasters/notesMaster1.xml" Id="Re5023dca008b4b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7fcd2865ac4064" /><Relationship Type="http://schemas.openxmlformats.org/officeDocument/2006/relationships/notesMaster" Target="/ppt/notesMasters/notesMaster1.xml" Id="Rd69c64e7a2344a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332f0d79f44119" /><Relationship Type="http://schemas.openxmlformats.org/officeDocument/2006/relationships/notesMaster" Target="/ppt/notesMasters/notesMaster1.xml" Id="R92fb2f6356ab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2f96768b704763" /><Relationship Type="http://schemas.openxmlformats.org/officeDocument/2006/relationships/notesMaster" Target="/ppt/notesMasters/notesMaster1.xml" Id="Ref982cf1379641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b1c454755047b1" /><Relationship Type="http://schemas.openxmlformats.org/officeDocument/2006/relationships/notesMaster" Target="/ppt/notesMasters/notesMaster1.xml" Id="Ra31dfaa78ed34a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3e672ef0c34084" /><Relationship Type="http://schemas.openxmlformats.org/officeDocument/2006/relationships/notesMaster" Target="/ppt/notesMasters/notesMaster1.xml" Id="R9a8b5f31b4c8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5fc12487f4b0c" /><Relationship Type="http://schemas.openxmlformats.org/officeDocument/2006/relationships/notesMaster" Target="/ppt/notesMasters/notesMaster1.xml" Id="Rc43c85ecdcd043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5bf223300440bb" /><Relationship Type="http://schemas.openxmlformats.org/officeDocument/2006/relationships/notesMaster" Target="/ppt/notesMasters/notesMaster1.xml" Id="R10eba9387aeb48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b51110125646a5" /><Relationship Type="http://schemas.openxmlformats.org/officeDocument/2006/relationships/notesMaster" Target="/ppt/notesMasters/notesMaster1.xml" Id="R79789c7a9faa4a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e27656ad8d4f89" /><Relationship Type="http://schemas.openxmlformats.org/officeDocument/2006/relationships/notesMaster" Target="/ppt/notesMasters/notesMaster1.xml" Id="R4f21ba654ccb40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event/engine.py</a:t>
            </a:r>
          </a:p>
          <a:p xmlns:a="http://schemas.openxmlformats.org/drawingml/2006/main">
            <a:r>
              <a:t>- oms/paper_trade_database.py</a:t>
            </a:r>
          </a:p>
          <a:p xmlns:a="http://schemas.openxmlformats.org/drawingml/2006/main">
            <a:r>
              <a:t>- tests/ (pytest -q: 928 passed)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 the blue flow left to right, then show execution truth returning through its own lane.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main.py</a:t>
            </a:r>
          </a:p>
          <a:p xmlns:a="http://schemas.openxmlformats.org/drawingml/2006/main">
            <a:r>
              <a:t>- event/engine.py</a:t>
            </a:r>
          </a:p>
          <a:p xmlns:a="http://schemas.openxmlformats.org/drawingml/2006/main">
            <a:r>
              <a:t>- strategy/glft.py</a:t>
            </a:r>
          </a:p>
          <a:p xmlns:a="http://schemas.openxmlformats.org/drawingml/2006/main">
            <a:r>
              <a:t>- risk/manager.py</a:t>
            </a:r>
          </a:p>
          <a:p xmlns:a="http://schemas.openxmlformats.org/drawingml/2006/main">
            <a:r>
              <a:t>- oms/engine.py</a:t>
            </a:r>
          </a:p>
          <a:p xmlns:a="http://schemas.openxmlformats.org/drawingml/2006/main">
            <a:r>
              <a:t>- gateway/binance/paper_gateway.py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event/engine.py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strategy/quote_math.py</a:t>
            </a:r>
          </a:p>
          <a:p xmlns:a="http://schemas.openxmlformats.org/drawingml/2006/main">
            <a:r>
              <a:t>- strategy/glft.py</a:t>
            </a:r>
          </a:p>
          <a:p xmlns:a="http://schemas.openxmlformats.org/drawingml/2006/main">
            <a:r>
              <a:t>- alpha/glft_adaptive.py</a:t>
            </a:r>
          </a:p>
          <a:p xmlns:a="http://schemas.openxmlformats.org/drawingml/2006/main">
            <a:r>
              <a:t>- config/strategy/glft.json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strategy/glft.py</a:t>
            </a:r>
          </a:p>
          <a:p xmlns:a="http://schemas.openxmlformats.org/drawingml/2006/main">
            <a:r>
              <a:t>- risk/manager.py</a:t>
            </a:r>
          </a:p>
          <a:p xmlns:a="http://schemas.openxmlformats.org/drawingml/2006/main">
            <a:r>
              <a:t>- oms/order_policy.py</a:t>
            </a:r>
          </a:p>
          <a:p xmlns:a="http://schemas.openxmlformats.org/drawingml/2006/main">
            <a:r>
              <a:t>- oms/submit_settlement.py</a:t>
            </a:r>
          </a:p>
          <a:p xmlns:a="http://schemas.openxmlformats.org/drawingml/2006/main">
            <a:r>
              <a:t>- oms/exchange_event_processor.py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oms/lifecycle_controller.py</a:t>
            </a:r>
          </a:p>
          <a:p xmlns:a="http://schemas.openxmlformats.org/drawingml/2006/main">
            <a:r>
              <a:t>- oms/durability_manager.py</a:t>
            </a:r>
          </a:p>
          <a:p xmlns:a="http://schemas.openxmlformats.org/drawingml/2006/main">
            <a:r>
              <a:t>- risk/independent_supervisor.py</a:t>
            </a:r>
          </a:p>
          <a:p xmlns:a="http://schemas.openxmlformats.org/drawingml/2006/main">
            <a:r>
              <a:t>- main.py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config/execution.json</a:t>
            </a:r>
          </a:p>
          <a:p xmlns:a="http://schemas.openxmlformats.org/drawingml/2006/main">
            <a:r>
              <a:t>- config/paper_trade.json</a:t>
            </a:r>
          </a:p>
          <a:p xmlns:a="http://schemas.openxmlformats.org/drawingml/2006/main">
            <a:r>
              <a:t>- strategy/formula_governance.py</a:t>
            </a:r>
          </a:p>
          <a:p xmlns:a="http://schemas.openxmlformats.org/drawingml/2006/main">
            <a:r>
              <a:t>- scripts/calibrate_paper_models.py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oms/paper_trade_database.py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alpha/paper_calibration.py</a:t>
            </a:r>
          </a:p>
          <a:p xmlns:a="http://schemas.openxmlformats.org/drawingml/2006/main">
            <a:r>
              <a:t>- scripts/calibrate_paper_models.py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scripts/bootstrap_aws.sh</a:t>
            </a:r>
          </a:p>
          <a:p xmlns:a="http://schemas.openxmlformats.org/drawingml/2006/main">
            <a:r>
              <a:t>- scripts/install_systemd_service.sh</a:t>
            </a:r>
          </a:p>
          <a:p xmlns:a="http://schemas.openxmlformats.org/drawingml/2006/main">
            <a:r>
              <a:t>- deploy/systemd/chronoshft.service.in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strategy/model_readiness.py</a:t>
            </a:r>
          </a:p>
          <a:p xmlns:a="http://schemas.openxmlformats.org/drawingml/2006/main">
            <a:r>
              <a:t>- config/strategy/model_readiness.json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de54467e34f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d57876eb9429a" /><Relationship Type="http://schemas.openxmlformats.org/officeDocument/2006/relationships/slideLayout" Target="/ppt/slideLayouts/slideLayout1.xml" Id="R59d4fae586564d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4fae586564d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db8be1cf34349" /><Relationship Type="http://schemas.openxmlformats.org/officeDocument/2006/relationships/notesSlide" Target="/ppt/notesSlides/notesSlide1.xml" Id="Reed52e30fed84b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17fe353eb449a" /><Relationship Type="http://schemas.openxmlformats.org/officeDocument/2006/relationships/notesSlide" Target="/ppt/notesSlides/notesSlide2.xml" Id="Rc9f74c07eb9242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8339e75924168" /><Relationship Type="http://schemas.openxmlformats.org/officeDocument/2006/relationships/notesSlide" Target="/ppt/notesSlides/notesSlide3.xml" Id="R35801c961caa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319eb0ec84795" /><Relationship Type="http://schemas.openxmlformats.org/officeDocument/2006/relationships/notesSlide" Target="/ppt/notesSlides/notesSlide4.xml" Id="R20c6a70f0a7d4a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da573d92946f5" /><Relationship Type="http://schemas.openxmlformats.org/officeDocument/2006/relationships/notesSlide" Target="/ppt/notesSlides/notesSlide5.xml" Id="R149d079be37d41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048de38684295" /><Relationship Type="http://schemas.openxmlformats.org/officeDocument/2006/relationships/notesSlide" Target="/ppt/notesSlides/notesSlide6.xml" Id="R3834a4fd7bab42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a3635429848e3" /><Relationship Type="http://schemas.openxmlformats.org/officeDocument/2006/relationships/notesSlide" Target="/ppt/notesSlides/notesSlide7.xml" Id="Ra9fb97bc9d7d42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b6a0fa0b34e32" /><Relationship Type="http://schemas.openxmlformats.org/officeDocument/2006/relationships/notesSlide" Target="/ppt/notesSlides/notesSlide8.xml" Id="R0ec303e9e63948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f7af7f07844dc" /><Relationship Type="http://schemas.openxmlformats.org/officeDocument/2006/relationships/notesSlide" Target="/ppt/notesSlides/notesSlide9.xml" Id="R7099c4a182bf42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ebbcbfee4478d" /><Relationship Type="http://schemas.openxmlformats.org/officeDocument/2006/relationships/notesSlide" Target="/ppt/notesSlides/notesSlide10.xml" Id="Rec613716b3a045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8f621c9894741" /><Relationship Type="http://schemas.openxmlformats.org/officeDocument/2006/relationships/notesSlide" Target="/ppt/notesSlides/notesSlide11.xml" Id="R8e9b4e74e4104f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93bcc0da24e30" /><Relationship Type="http://schemas.openxmlformats.org/officeDocument/2006/relationships/notesSlide" Target="/ppt/notesSlides/notesSlide12.xml" Id="R41b7f721cdae48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">
            <a:extLst xmlns:a="http://schemas.openxmlformats.org/drawingml/2006/main">
              <a:ext uri="{FF2B5EF4-FFF2-40B4-BE49-F238E27FC236}">
                <a16:creationId xmlns:a16="http://schemas.microsoft.com/office/drawing/2014/main" id="{AF53E4DA-B5AE-4D46-A5E9-45BA16E6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REPOSITORY TECHNICAL OVERVIEW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9571DFD-0D66-4F88-BE1F-3188723B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ChronosHFT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43469E0-F95B-4B9C-9E6A-DC18BB01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Paper-first 加密货币做市运行时</a:t>
            </a:r>
          </a:p>
        </p:txBody>
      </p:sp>
      <p:sp>
        <p:nvSpPr>
          <p:cNvPr id="4" name="rule-42-474">
            <a:extLst xmlns:a="http://schemas.openxmlformats.org/drawingml/2006/main">
              <a:ext uri="{FF2B5EF4-FFF2-40B4-BE49-F238E27FC236}">
                <a16:creationId xmlns:a16="http://schemas.microsoft.com/office/drawing/2014/main" id="{ADD61163-B109-4B5C-A662-74F04C6C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52CE933C-2E65-4FC4-BEA2-4A504400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架构 · GLFT · OMS · 风控 · 数据校准 · AWS 运维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8448A7B9-788F-4D87-B970-07168D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Repository snapshot · 2026-07-31</a:t>
            </a:r>
          </a:p>
        </p:txBody>
      </p:sp>
    </p:spTree>
    <p:extLst>
      <p:ext uri="{BB962C8B-B14F-4D97-AF65-F5344CB8AC3E}">
        <p14:creationId xmlns:p14="http://schemas.microsoft.com/office/powerpoint/2010/main" val="962049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390CFFC-2DBD-4CC0-8D50-1046543C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这是一套运行时，不是一段做市公式</a:t>
            </a:r>
          </a:p>
        </p:txBody>
      </p:sp>
      <p:sp>
        <p:nvSpPr>
          <p:cNvPr id="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6848C077-2A37-4E3B-8779-20E40F55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runtime-claim">
            <a:extLst xmlns:a="http://schemas.openxmlformats.org/drawingml/2006/main">
              <a:ext uri="{FF2B5EF4-FFF2-40B4-BE49-F238E27FC236}">
                <a16:creationId xmlns:a16="http://schemas.microsoft.com/office/drawing/2014/main" id="{3B2C000A-0DAE-4037-9407-3059211B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系统把市场数据、策略、执行真相、风险、持久化和运维分成明确边界。</a:t>
            </a:r>
          </a:p>
        </p:txBody>
      </p:sp>
      <p:sp>
        <p:nvSpPr>
          <p:cNvPr id="4" name="metric-panel-0">
            <a:extLst xmlns:a="http://schemas.openxmlformats.org/drawingml/2006/main">
              <a:ext uri="{FF2B5EF4-FFF2-40B4-BE49-F238E27FC236}">
                <a16:creationId xmlns:a16="http://schemas.microsoft.com/office/drawing/2014/main" id="{5B73B88F-E4F1-4C5A-A1E1-27F8FF8F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571875" cy="3067050"/>
          </a:xfrm>
          <a:prstGeom xmlns:a="http://schemas.openxmlformats.org/drawingml/2006/main" prst="roundRect">
            <a:avLst>
              <a:gd name="adj" fmla="val 18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FC160A73-7477-4B41-ACF0-6D088F7C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3028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F3A2CC48-BAB7-4E42-A939-218A131A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事件通道</a:t>
            </a:r>
          </a:p>
        </p:txBody>
      </p:sp>
      <p:sp>
        <p:nvSpPr>
          <p:cNvPr id="7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AECF565C-519E-4F86-B452-F8A0483C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market / execution / cold</a:t>
            </a:r>
          </a:p>
        </p:txBody>
      </p:sp>
      <p:sp>
        <p:nvSpPr>
          <p:cNvPr id="8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70834822-EC5A-478B-B44F-4BBCFF31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571875" cy="3067050"/>
          </a:xfrm>
          <a:prstGeom xmlns:a="http://schemas.openxmlformats.org/drawingml/2006/main" prst="roundRect">
            <a:avLst>
              <a:gd name="adj" fmla="val 18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8EE1F12-C1D1-4936-B04F-4E3D63DA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24200"/>
            <a:ext cx="3028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EA842ABB-85F7-4393-B520-3210788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958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Paper 事实数据集</a:t>
            </a:r>
          </a:p>
        </p:txBody>
      </p:sp>
      <p:sp>
        <p:nvSpPr>
          <p:cNvPr id="11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424E6AB7-A73A-4422-B634-5968C20C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1054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fills 到 market samples</a:t>
            </a:r>
          </a:p>
        </p:txBody>
      </p:sp>
      <p:sp>
        <p:nvSpPr>
          <p:cNvPr id="12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8BFD0DDD-43DF-41F1-BA8E-85D17292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71875" cy="3067050"/>
          </a:xfrm>
          <a:prstGeom xmlns:a="http://schemas.openxmlformats.org/drawingml/2006/main" prst="roundRect">
            <a:avLst>
              <a:gd name="adj" fmla="val 1863"/>
            </a:avLst>
          </a:prstGeom>
          <a:solidFill xmlns:a="http://schemas.openxmlformats.org/drawingml/2006/main">
            <a:srgbClr val="E7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994B1A0C-8FDC-4A7F-933C-F08B9D70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3028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928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09D02FA7-9429-4ECA-9305-3118864E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958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自动化测试</a:t>
            </a:r>
          </a:p>
        </p:txBody>
      </p:sp>
      <p:sp>
        <p:nvSpPr>
          <p:cNvPr id="15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C0C5D47D-9941-4C44-AA4A-73162BB5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054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当前全量测试通过</a:t>
            </a:r>
          </a:p>
        </p:txBody>
      </p:sp>
    </p:spTree>
    <p:extLst>
      <p:ext uri="{BB962C8B-B14F-4D97-AF65-F5344CB8AC3E}">
        <p14:creationId xmlns:p14="http://schemas.microsoft.com/office/powerpoint/2010/main" val="933746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DCBEC6D-D160-408A-96A2-87A67D61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主链路把行情决策与执行真相分开</a:t>
            </a:r>
          </a:p>
        </p:txBody>
      </p:sp>
      <p:sp>
        <p:nvSpPr>
          <p:cNvPr id="2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F2F51CAF-BE33-422B-80A4-17993AE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architecture-legend">
            <a:extLst xmlns:a="http://schemas.openxmlformats.org/drawingml/2006/main">
              <a:ext uri="{FF2B5EF4-FFF2-40B4-BE49-F238E27FC236}">
                <a16:creationId xmlns:a16="http://schemas.microsoft.com/office/drawing/2014/main" id="{FA2C55BB-1716-42EA-A9CA-6F2E5B5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蓝色表示实时流；灰色表示异步观测与操作面。</a:t>
            </a:r>
          </a:p>
        </p:txBody>
      </p:sp>
      <p:sp>
        <p:nvSpPr>
          <p:cNvPr id="4" name="flow-arrow-196-278">
            <a:extLst xmlns:a="http://schemas.openxmlformats.org/drawingml/2006/main">
              <a:ext uri="{FF2B5EF4-FFF2-40B4-BE49-F238E27FC236}">
                <a16:creationId xmlns:a16="http://schemas.microsoft.com/office/drawing/2014/main" id="{ED9EE797-6F04-4BC6-B5E6-91FC2217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-396-278">
            <a:extLst xmlns:a="http://schemas.openxmlformats.org/drawingml/2006/main">
              <a:ext uri="{FF2B5EF4-FFF2-40B4-BE49-F238E27FC236}">
                <a16:creationId xmlns:a16="http://schemas.microsoft.com/office/drawing/2014/main" id="{D416D055-9340-42E4-8D22-A0414CAB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596-278">
            <a:extLst xmlns:a="http://schemas.openxmlformats.org/drawingml/2006/main">
              <a:ext uri="{FF2B5EF4-FFF2-40B4-BE49-F238E27FC236}">
                <a16:creationId xmlns:a16="http://schemas.microsoft.com/office/drawing/2014/main" id="{3ACCDF98-010A-4A40-A1C0-E91057DC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-796-278">
            <a:extLst xmlns:a="http://schemas.openxmlformats.org/drawingml/2006/main">
              <a:ext uri="{FF2B5EF4-FFF2-40B4-BE49-F238E27FC236}">
                <a16:creationId xmlns:a16="http://schemas.microsoft.com/office/drawing/2014/main" id="{F6B8EBFE-DD7A-4543-ACB7-E63B74CA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-996-278">
            <a:extLst xmlns:a="http://schemas.openxmlformats.org/drawingml/2006/main">
              <a:ext uri="{FF2B5EF4-FFF2-40B4-BE49-F238E27FC236}">
                <a16:creationId xmlns:a16="http://schemas.microsoft.com/office/drawing/2014/main" id="{53D10318-0CD0-42A8-A29F-1DF1635D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arrow-312-382">
            <a:extLst xmlns:a="http://schemas.openxmlformats.org/drawingml/2006/main">
              <a:ext uri="{FF2B5EF4-FFF2-40B4-BE49-F238E27FC236}">
                <a16:creationId xmlns:a16="http://schemas.microsoft.com/office/drawing/2014/main" id="{FF6E6C3E-C8A2-4361-9AEB-9D0731D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2286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arrow-912-382">
            <a:extLst xmlns:a="http://schemas.openxmlformats.org/drawingml/2006/main">
              <a:ext uri="{FF2B5EF4-FFF2-40B4-BE49-F238E27FC236}">
                <a16:creationId xmlns:a16="http://schemas.microsoft.com/office/drawing/2014/main" id="{3AA2DD48-9CD0-4CAF-AAB6-0ED61462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286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arrow-1112-382">
            <a:extLst xmlns:a="http://schemas.openxmlformats.org/drawingml/2006/main">
              <a:ext uri="{FF2B5EF4-FFF2-40B4-BE49-F238E27FC236}">
                <a16:creationId xmlns:a16="http://schemas.microsoft.com/office/drawing/2014/main" id="{C93E0CE1-AA4B-48D7-B356-0B61251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38550"/>
            <a:ext cx="2286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-Binance&#10;公开行情">
            <a:extLst xmlns:a="http://schemas.openxmlformats.org/drawingml/2006/main">
              <a:ext uri="{FF2B5EF4-FFF2-40B4-BE49-F238E27FC236}">
                <a16:creationId xmlns:a16="http://schemas.microsoft.com/office/drawing/2014/main" id="{FFB17AEB-E22D-44A2-8CD7-9CEC050E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4668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-Binance&#10;公开行情">
            <a:extLst xmlns:a="http://schemas.openxmlformats.org/drawingml/2006/main">
              <a:ext uri="{FF2B5EF4-FFF2-40B4-BE49-F238E27FC236}">
                <a16:creationId xmlns:a16="http://schemas.microsoft.com/office/drawing/2014/main" id="{B180C155-6782-4FC4-B770-3BB80384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1276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Binance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公开行情</a:t>
            </a:r>
          </a:p>
        </p:txBody>
      </p:sp>
      <p:sp>
        <p:nvSpPr>
          <p:cNvPr id="14" name="node-Event Engine&#10;market lane">
            <a:extLst xmlns:a="http://schemas.openxmlformats.org/drawingml/2006/main">
              <a:ext uri="{FF2B5EF4-FFF2-40B4-BE49-F238E27FC236}">
                <a16:creationId xmlns:a16="http://schemas.microsoft.com/office/drawing/2014/main" id="{33532A5D-954B-4688-91B8-A8A4AF6C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90750"/>
            <a:ext cx="14668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-label-Event Engine&#10;market lane">
            <a:extLst xmlns:a="http://schemas.openxmlformats.org/drawingml/2006/main">
              <a:ext uri="{FF2B5EF4-FFF2-40B4-BE49-F238E27FC236}">
                <a16:creationId xmlns:a16="http://schemas.microsoft.com/office/drawing/2014/main" id="{C490F3DB-72C2-48BB-9E64-C1C50798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1276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Event Engine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market lane</a:t>
            </a:r>
          </a:p>
        </p:txBody>
      </p:sp>
      <p:sp>
        <p:nvSpPr>
          <p:cNvPr id="16" name="node-Data Cache&#10;市场真相">
            <a:extLst xmlns:a="http://schemas.openxmlformats.org/drawingml/2006/main">
              <a:ext uri="{FF2B5EF4-FFF2-40B4-BE49-F238E27FC236}">
                <a16:creationId xmlns:a16="http://schemas.microsoft.com/office/drawing/2014/main" id="{8DEB3A0F-3FBE-4975-9FF9-02B6E305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14668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label-Data Cache&#10;市场真相">
            <a:extLst xmlns:a="http://schemas.openxmlformats.org/drawingml/2006/main">
              <a:ext uri="{FF2B5EF4-FFF2-40B4-BE49-F238E27FC236}">
                <a16:creationId xmlns:a16="http://schemas.microsoft.com/office/drawing/2014/main" id="{E4958592-1B28-46D8-A6CB-AAC88CA0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1276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Data Cache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市场真相</a:t>
            </a:r>
          </a:p>
        </p:txBody>
      </p:sp>
      <p:sp>
        <p:nvSpPr>
          <p:cNvPr id="18" name="node-GLFT&#10;报价决策">
            <a:extLst xmlns:a="http://schemas.openxmlformats.org/drawingml/2006/main">
              <a:ext uri="{FF2B5EF4-FFF2-40B4-BE49-F238E27FC236}">
                <a16:creationId xmlns:a16="http://schemas.microsoft.com/office/drawing/2014/main" id="{380A4621-E039-463D-9A76-352B51C6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14668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-GLFT&#10;报价决策">
            <a:extLst xmlns:a="http://schemas.openxmlformats.org/drawingml/2006/main">
              <a:ext uri="{FF2B5EF4-FFF2-40B4-BE49-F238E27FC236}">
                <a16:creationId xmlns:a16="http://schemas.microsoft.com/office/drawing/2014/main" id="{1E20279B-BB04-426D-86AD-CEEA238B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1276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GLFT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报价决策</a:t>
            </a:r>
          </a:p>
        </p:txBody>
      </p:sp>
      <p:sp>
        <p:nvSpPr>
          <p:cNvPr id="20" name="node-Risk + OMS&#10;发送闸门">
            <a:extLst xmlns:a="http://schemas.openxmlformats.org/drawingml/2006/main">
              <a:ext uri="{FF2B5EF4-FFF2-40B4-BE49-F238E27FC236}">
                <a16:creationId xmlns:a16="http://schemas.microsoft.com/office/drawing/2014/main" id="{D666B0B5-F458-4480-8DED-36CE7050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14668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label-Risk + OMS&#10;发送闸门">
            <a:extLst xmlns:a="http://schemas.openxmlformats.org/drawingml/2006/main">
              <a:ext uri="{FF2B5EF4-FFF2-40B4-BE49-F238E27FC236}">
                <a16:creationId xmlns:a16="http://schemas.microsoft.com/office/drawing/2014/main" id="{F926CA25-F018-4CB0-A63E-E9857A0B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1276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Risk + OMS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发送闸门</a:t>
            </a:r>
          </a:p>
        </p:txBody>
      </p:sp>
      <p:sp>
        <p:nvSpPr>
          <p:cNvPr id="22" name="node-Paper Gateway&#10;本地执行">
            <a:extLst xmlns:a="http://schemas.openxmlformats.org/drawingml/2006/main">
              <a:ext uri="{FF2B5EF4-FFF2-40B4-BE49-F238E27FC236}">
                <a16:creationId xmlns:a16="http://schemas.microsoft.com/office/drawing/2014/main" id="{0514E9DE-BA2E-4FEC-8210-E6216853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4668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ode-label-Paper Gateway&#10;本地执行">
            <a:extLst xmlns:a="http://schemas.openxmlformats.org/drawingml/2006/main">
              <a:ext uri="{FF2B5EF4-FFF2-40B4-BE49-F238E27FC236}">
                <a16:creationId xmlns:a16="http://schemas.microsoft.com/office/drawing/2014/main" id="{C5F446CA-94BE-4165-BF0E-B5ED82D9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86000"/>
            <a:ext cx="1276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Paper Gateway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本地执行</a:t>
            </a:r>
          </a:p>
        </p:txBody>
      </p:sp>
      <p:sp>
        <p:nvSpPr>
          <p:cNvPr id="24" name="node-execution lane&#10;ACK · fill · account">
            <a:extLst xmlns:a="http://schemas.openxmlformats.org/drawingml/2006/main">
              <a:ext uri="{FF2B5EF4-FFF2-40B4-BE49-F238E27FC236}">
                <a16:creationId xmlns:a16="http://schemas.microsoft.com/office/drawing/2014/main" id="{A5DF2443-6AC9-470F-BEC2-A889291D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67200"/>
            <a:ext cx="23812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ode-label-execution lane&#10;ACK · fill · account">
            <a:extLst xmlns:a="http://schemas.openxmlformats.org/drawingml/2006/main">
              <a:ext uri="{FF2B5EF4-FFF2-40B4-BE49-F238E27FC236}">
                <a16:creationId xmlns:a16="http://schemas.microsoft.com/office/drawing/2014/main" id="{06FFCC72-CADD-48E4-B1CB-8093A48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624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execution lane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ACK · fill · account</a:t>
            </a:r>
          </a:p>
        </p:txBody>
      </p:sp>
      <p:sp>
        <p:nvSpPr>
          <p:cNvPr id="26" name="node-JSONL journal&#10;审计真相">
            <a:extLst xmlns:a="http://schemas.openxmlformats.org/drawingml/2006/main">
              <a:ext uri="{FF2B5EF4-FFF2-40B4-BE49-F238E27FC236}">
                <a16:creationId xmlns:a16="http://schemas.microsoft.com/office/drawing/2014/main" id="{5091D58D-B326-40E6-A404-563CA013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5717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node-label-JSONL journal&#10;审计真相">
            <a:extLst xmlns:a="http://schemas.openxmlformats.org/drawingml/2006/main">
              <a:ext uri="{FF2B5EF4-FFF2-40B4-BE49-F238E27FC236}">
                <a16:creationId xmlns:a16="http://schemas.microsoft.com/office/drawing/2014/main" id="{FC2715A6-440F-40ED-90D0-5279EF22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JSONL journal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审计真相</a:t>
            </a:r>
          </a:p>
        </p:txBody>
      </p:sp>
      <p:sp>
        <p:nvSpPr>
          <p:cNvPr id="28" name="node-SQLite v4 + Dashboard&#10;查询与观测">
            <a:extLst xmlns:a="http://schemas.openxmlformats.org/drawingml/2006/main">
              <a:ext uri="{FF2B5EF4-FFF2-40B4-BE49-F238E27FC236}">
                <a16:creationId xmlns:a16="http://schemas.microsoft.com/office/drawing/2014/main" id="{E890F769-1A79-4CB9-A7FD-720A5F81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62600"/>
            <a:ext cx="2400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node-label-SQLite v4 + Dashboard&#10;查询与观测">
            <a:extLst xmlns:a="http://schemas.openxmlformats.org/drawingml/2006/main">
              <a:ext uri="{FF2B5EF4-FFF2-40B4-BE49-F238E27FC236}">
                <a16:creationId xmlns:a16="http://schemas.microsoft.com/office/drawing/2014/main" id="{CD9B41D7-7A15-4545-B10D-6C8E64FB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578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SQLite v4 + Dashboard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查询与观测</a:t>
            </a:r>
          </a:p>
        </p:txBody>
      </p:sp>
      <p:sp>
        <p:nvSpPr>
          <p:cNvPr id="30" name="sidecar-title">
            <a:extLst xmlns:a="http://schemas.openxmlformats.org/drawingml/2006/main">
              <a:ext uri="{FF2B5EF4-FFF2-40B4-BE49-F238E27FC236}">
                <a16:creationId xmlns:a16="http://schemas.microsoft.com/office/drawing/2014/main" id="{A9181019-CD0A-47F2-BB5E-604485F3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Independent Risk Supervisor</a:t>
            </a:r>
          </a:p>
        </p:txBody>
      </p:sp>
      <p:sp>
        <p:nvSpPr>
          <p:cNvPr id="31" name="sidecar-body">
            <a:extLst xmlns:a="http://schemas.openxmlformats.org/drawingml/2006/main">
              <a:ext uri="{FF2B5EF4-FFF2-40B4-BE49-F238E27FC236}">
                <a16:creationId xmlns:a16="http://schemas.microsoft.com/office/drawing/2014/main" id="{6882A7F6-5F7A-44FF-AD66-C80F457C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独立进程校验账户、技术健康与 rearm 条件；异常时 fail closed。</a:t>
            </a:r>
          </a:p>
        </p:txBody>
      </p:sp>
    </p:spTree>
    <p:extLst>
      <p:ext uri="{BB962C8B-B14F-4D97-AF65-F5344CB8AC3E}">
        <p14:creationId xmlns:p14="http://schemas.microsoft.com/office/powerpoint/2010/main" val="1101597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B5C5DBC-B7ED-4F55-915F-19A4A20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三条事件通道隔离不同延迟预算</a:t>
            </a:r>
          </a:p>
        </p:txBody>
      </p:sp>
      <p:sp>
        <p:nvSpPr>
          <p:cNvPr id="2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F6AECF44-F4DC-4C24-A2F0-14C53123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rule-42-218">
            <a:extLst xmlns:a="http://schemas.openxmlformats.org/drawingml/2006/main">
              <a:ext uri="{FF2B5EF4-FFF2-40B4-BE49-F238E27FC236}">
                <a16:creationId xmlns:a16="http://schemas.microsoft.com/office/drawing/2014/main" id="{C8226F71-ABBE-43D2-9CAA-941E6F6F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4" name="lane-eyebrow-0">
            <a:extLst xmlns:a="http://schemas.openxmlformats.org/drawingml/2006/main">
              <a:ext uri="{FF2B5EF4-FFF2-40B4-BE49-F238E27FC236}">
                <a16:creationId xmlns:a16="http://schemas.microsoft.com/office/drawing/2014/main" id="{3C754B3E-9293-4151-BCDB-204B40F0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MARKET</a:t>
            </a:r>
          </a:p>
        </p:txBody>
      </p:sp>
      <p:sp>
        <p:nvSpPr>
          <p:cNvPr id="5" name="lane-heading-0">
            <a:extLst xmlns:a="http://schemas.openxmlformats.org/drawingml/2006/main">
              <a:ext uri="{FF2B5EF4-FFF2-40B4-BE49-F238E27FC236}">
                <a16:creationId xmlns:a16="http://schemas.microsoft.com/office/drawing/2014/main" id="{7B519CDF-83F0-4983-9233-D09E1D8D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行情状态更新</a:t>
            </a:r>
          </a:p>
        </p:txBody>
      </p:sp>
      <p:sp>
        <p:nvSpPr>
          <p:cNvPr id="6" name="lane-body-0">
            <a:extLst xmlns:a="http://schemas.openxmlformats.org/drawingml/2006/main">
              <a:ext uri="{FF2B5EF4-FFF2-40B4-BE49-F238E27FC236}">
                <a16:creationId xmlns:a16="http://schemas.microsoft.com/office/drawing/2014/main" id="{6B9850FE-B65B-48AF-B9B7-0F304466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5623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订单簿、mark price 与 aggTrade 进入独立队列。慢处理阈值默认 5 ms，避免策略输入被 UI 或磁盘拖慢。</a:t>
            </a:r>
          </a:p>
        </p:txBody>
      </p:sp>
      <p:sp>
        <p:nvSpPr>
          <p:cNvPr id="7" name="rule-453-218">
            <a:extLst xmlns:a="http://schemas.openxmlformats.org/drawingml/2006/main">
              <a:ext uri="{FF2B5EF4-FFF2-40B4-BE49-F238E27FC236}">
                <a16:creationId xmlns:a16="http://schemas.microsoft.com/office/drawing/2014/main" id="{BCC056FF-AF75-4BFC-9D47-BFF60FB0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8" name="lane-eyebrow-1">
            <a:extLst xmlns:a="http://schemas.openxmlformats.org/drawingml/2006/main">
              <a:ext uri="{FF2B5EF4-FFF2-40B4-BE49-F238E27FC236}">
                <a16:creationId xmlns:a16="http://schemas.microsoft.com/office/drawing/2014/main" id="{BB681133-9587-4F38-824F-0496B6C1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</p:txBody>
      </p:sp>
      <p:sp>
        <p:nvSpPr>
          <p:cNvPr id="9" name="lane-heading-1">
            <a:extLst xmlns:a="http://schemas.openxmlformats.org/drawingml/2006/main">
              <a:ext uri="{FF2B5EF4-FFF2-40B4-BE49-F238E27FC236}">
                <a16:creationId xmlns:a16="http://schemas.microsoft.com/office/drawing/2014/main" id="{8478CFF3-3863-4AE1-A6B1-7DCEE1C7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3845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执行真相优先</a:t>
            </a:r>
          </a:p>
        </p:txBody>
      </p:sp>
      <p:sp>
        <p:nvSpPr>
          <p:cNvPr id="10" name="lane-body-1">
            <a:extLst xmlns:a="http://schemas.openxmlformats.org/drawingml/2006/main">
              <a:ext uri="{FF2B5EF4-FFF2-40B4-BE49-F238E27FC236}">
                <a16:creationId xmlns:a16="http://schemas.microsoft.com/office/drawing/2014/main" id="{1E6C40F3-1BA5-4A20-BE35-97928EEF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38550"/>
            <a:ext cx="35623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ACK、成交和账户更新独立调度。慢处理阈值默认 20 ms，直接驱动 OMS 账本与风险状态。</a:t>
            </a:r>
          </a:p>
        </p:txBody>
      </p:sp>
      <p:sp>
        <p:nvSpPr>
          <p:cNvPr id="11" name="rule-864-218">
            <a:extLst xmlns:a="http://schemas.openxmlformats.org/drawingml/2006/main">
              <a:ext uri="{FF2B5EF4-FFF2-40B4-BE49-F238E27FC236}">
                <a16:creationId xmlns:a16="http://schemas.microsoft.com/office/drawing/2014/main" id="{5700F0A0-7261-4D5C-9C18-B62DDAB3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2" name="lane-eyebrow-2">
            <a:extLst xmlns:a="http://schemas.openxmlformats.org/drawingml/2006/main">
              <a:ext uri="{FF2B5EF4-FFF2-40B4-BE49-F238E27FC236}">
                <a16:creationId xmlns:a16="http://schemas.microsoft.com/office/drawing/2014/main" id="{A8B9D6DE-C105-414A-8366-D42262CC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COLD</a:t>
            </a:r>
          </a:p>
        </p:txBody>
      </p:sp>
      <p:sp>
        <p:nvSpPr>
          <p:cNvPr id="13" name="lane-heading-2">
            <a:extLst xmlns:a="http://schemas.openxmlformats.org/drawingml/2006/main">
              <a:ext uri="{FF2B5EF4-FFF2-40B4-BE49-F238E27FC236}">
                <a16:creationId xmlns:a16="http://schemas.microsoft.com/office/drawing/2014/main" id="{BCE4E6B3-A294-439C-A5BB-B46AC424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观测异步落地</a:t>
            </a:r>
          </a:p>
        </p:txBody>
      </p:sp>
      <p:sp>
        <p:nvSpPr>
          <p:cNvPr id="14" name="lane-body-2">
            <a:extLst xmlns:a="http://schemas.openxmlformats.org/drawingml/2006/main">
              <a:ext uri="{FF2B5EF4-FFF2-40B4-BE49-F238E27FC236}">
                <a16:creationId xmlns:a16="http://schemas.microsoft.com/office/drawing/2014/main" id="{4BA5D6FB-2C6D-4E61-9907-5198BF82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35623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Dashboard、日志和 SQLite 投影在冷通道处理。即使观测变慢，也不应进入行情热路径。</a:t>
            </a:r>
          </a:p>
        </p:txBody>
      </p:sp>
    </p:spTree>
    <p:extLst>
      <p:ext uri="{BB962C8B-B14F-4D97-AF65-F5344CB8AC3E}">
        <p14:creationId xmlns:p14="http://schemas.microsoft.com/office/powerpoint/2010/main" val="12441667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1454ED5-5D23-4A41-91F1-3CCA040C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GLFT 提供骨架，在线状态负责适应</a:t>
            </a:r>
          </a:p>
        </p:txBody>
      </p:sp>
      <p:sp>
        <p:nvSpPr>
          <p:cNvPr id="2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5ED9B1DC-0E41-45B4-A660-6F217287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model-core-label">
            <a:extLst xmlns:a="http://schemas.openxmlformats.org/drawingml/2006/main">
              <a:ext uri="{FF2B5EF4-FFF2-40B4-BE49-F238E27FC236}">
                <a16:creationId xmlns:a16="http://schemas.microsoft.com/office/drawing/2014/main" id="{D935E192-FA46-4D8E-BEA9-A8E1BCB4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核心公式</a:t>
            </a:r>
          </a:p>
        </p:txBody>
      </p:sp>
      <p:sp>
        <p:nvSpPr>
          <p:cNvPr id="4" name="intensity-formula">
            <a:extLst xmlns:a="http://schemas.openxmlformats.org/drawingml/2006/main">
              <a:ext uri="{FF2B5EF4-FFF2-40B4-BE49-F238E27FC236}">
                <a16:creationId xmlns:a16="http://schemas.microsoft.com/office/drawing/2014/main" id="{8FECD4D5-8C49-49E6-82F8-56007AD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λ(δ) = A · e^(−kδ)</a:t>
            </a:r>
          </a:p>
        </p:txBody>
      </p:sp>
      <p:sp>
        <p:nvSpPr>
          <p:cNvPr id="5" name="model-core-body">
            <a:extLst xmlns:a="http://schemas.openxmlformats.org/drawingml/2006/main">
              <a:ext uri="{FF2B5EF4-FFF2-40B4-BE49-F238E27FC236}">
                <a16:creationId xmlns:a16="http://schemas.microsoft.com/office/drawing/2014/main" id="{7B018081-1184-4706-910D-19E36B68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A/k 描述距离 mid 不同深度的成交强度；GLFT 再结合波动率、风险厌恶和库存，得到双边连续报价。全部单位固定为 log-bps 与秒。</a:t>
            </a:r>
          </a:p>
        </p:txBody>
      </p:sp>
      <p:sp>
        <p:nvSpPr>
          <p:cNvPr id="6" name="model-mode">
            <a:extLst xmlns:a="http://schemas.openxmlformats.org/drawingml/2006/main">
              <a:ext uri="{FF2B5EF4-FFF2-40B4-BE49-F238E27FC236}">
                <a16:creationId xmlns:a16="http://schemas.microsoft.com/office/drawing/2014/main" id="{EB73CB6B-E5B1-4EC9-A506-5BBCEF55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当前运行配置</a:t>
            </a:r>
          </a:p>
        </p:txBody>
      </p:sp>
      <p:sp>
        <p:nvSpPr>
          <p:cNvPr id="7" name="model-mode-value">
            <a:extLst xmlns:a="http://schemas.openxmlformats.org/drawingml/2006/main">
              <a:ext uri="{FF2B5EF4-FFF2-40B4-BE49-F238E27FC236}">
                <a16:creationId xmlns:a16="http://schemas.microsoft.com/office/drawing/2014/main" id="{BE2911DD-B063-4212-9E34-52EA5F8F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adaptive = enabled    |    alpha = disabled</a:t>
            </a:r>
          </a:p>
        </p:txBody>
      </p:sp>
      <p:sp>
        <p:nvSpPr>
          <p:cNvPr id="8" name="adaptive-check-0">
            <a:extLst xmlns:a="http://schemas.openxmlformats.org/drawingml/2006/main">
              <a:ext uri="{FF2B5EF4-FFF2-40B4-BE49-F238E27FC236}">
                <a16:creationId xmlns:a16="http://schemas.microsoft.com/office/drawing/2014/main" id="{4C188C5C-5D8C-4440-8DB7-5D8E62CE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00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adaptive-heading-0">
            <a:extLst xmlns:a="http://schemas.openxmlformats.org/drawingml/2006/main">
              <a:ext uri="{FF2B5EF4-FFF2-40B4-BE49-F238E27FC236}">
                <a16:creationId xmlns:a16="http://schemas.microsoft.com/office/drawing/2014/main" id="{79891A4F-F6B0-45C6-B675-6E53FCE6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811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Side intensity + Hawkes</a:t>
            </a:r>
          </a:p>
        </p:txBody>
      </p:sp>
      <p:sp>
        <p:nvSpPr>
          <p:cNvPr id="10" name="adaptive-body-0">
            <a:extLst xmlns:a="http://schemas.openxmlformats.org/drawingml/2006/main">
              <a:ext uri="{FF2B5EF4-FFF2-40B4-BE49-F238E27FC236}">
                <a16:creationId xmlns:a16="http://schemas.microsoft.com/office/drawing/2014/main" id="{51BC43B0-745E-4FF9-B270-D653A58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买卖侧 A/k 与短期自激强度分开处理</a:t>
            </a:r>
          </a:p>
        </p:txBody>
      </p:sp>
      <p:sp>
        <p:nvSpPr>
          <p:cNvPr id="11" name="adaptive-check-1">
            <a:extLst xmlns:a="http://schemas.openxmlformats.org/drawingml/2006/main">
              <a:ext uri="{FF2B5EF4-FFF2-40B4-BE49-F238E27FC236}">
                <a16:creationId xmlns:a16="http://schemas.microsoft.com/office/drawing/2014/main" id="{39CCBC8B-DC31-456B-B57D-375D65F1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860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adaptive-heading-1">
            <a:extLst xmlns:a="http://schemas.openxmlformats.org/drawingml/2006/main">
              <a:ext uri="{FF2B5EF4-FFF2-40B4-BE49-F238E27FC236}">
                <a16:creationId xmlns:a16="http://schemas.microsoft.com/office/drawing/2014/main" id="{DD695E45-4283-4812-9B85-BAF8426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669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Flow + microprice</a:t>
            </a:r>
          </a:p>
        </p:txBody>
      </p:sp>
      <p:sp>
        <p:nvSpPr>
          <p:cNvPr id="13" name="adaptive-body-1">
            <a:extLst xmlns:a="http://schemas.openxmlformats.org/drawingml/2006/main">
              <a:ext uri="{FF2B5EF4-FFF2-40B4-BE49-F238E27FC236}">
                <a16:creationId xmlns:a16="http://schemas.microsoft.com/office/drawing/2014/main" id="{19DB5837-36F5-4092-9667-8648D7B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479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订单流不平衡与 microprice 转为逆向选择成本</a:t>
            </a:r>
          </a:p>
        </p:txBody>
      </p:sp>
      <p:sp>
        <p:nvSpPr>
          <p:cNvPr id="14" name="adaptive-check-2">
            <a:extLst xmlns:a="http://schemas.openxmlformats.org/drawingml/2006/main">
              <a:ext uri="{FF2B5EF4-FFF2-40B4-BE49-F238E27FC236}">
                <a16:creationId xmlns:a16="http://schemas.microsoft.com/office/drawing/2014/main" id="{D02BFFE8-4E32-4C10-9AA6-CB2295C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71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adaptive-heading-2">
            <a:extLst xmlns:a="http://schemas.openxmlformats.org/drawingml/2006/main">
              <a:ext uri="{FF2B5EF4-FFF2-40B4-BE49-F238E27FC236}">
                <a16:creationId xmlns:a16="http://schemas.microsoft.com/office/drawing/2014/main" id="{9F8453B5-EFF6-444E-999A-7AE3B5DF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Markout + queue</a:t>
            </a:r>
          </a:p>
        </p:txBody>
      </p:sp>
      <p:sp>
        <p:nvSpPr>
          <p:cNvPr id="16" name="adaptive-body-2">
            <a:extLst xmlns:a="http://schemas.openxmlformats.org/drawingml/2006/main">
              <a:ext uri="{FF2B5EF4-FFF2-40B4-BE49-F238E27FC236}">
                <a16:creationId xmlns:a16="http://schemas.microsoft.com/office/drawing/2014/main" id="{90F83427-EB7D-462C-8B64-60AAD1F0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338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100/500/1000 ms markout 与排队等待成本</a:t>
            </a:r>
          </a:p>
        </p:txBody>
      </p:sp>
      <p:sp>
        <p:nvSpPr>
          <p:cNvPr id="17" name="adaptive-check-3">
            <a:extLst xmlns:a="http://schemas.openxmlformats.org/drawingml/2006/main">
              <a:ext uri="{FF2B5EF4-FFF2-40B4-BE49-F238E27FC236}">
                <a16:creationId xmlns:a16="http://schemas.microsoft.com/office/drawing/2014/main" id="{BCA67B72-87AF-44C0-B7D7-01455516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5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adaptive-heading-3">
            <a:extLst xmlns:a="http://schemas.openxmlformats.org/drawingml/2006/main">
              <a:ext uri="{FF2B5EF4-FFF2-40B4-BE49-F238E27FC236}">
                <a16:creationId xmlns:a16="http://schemas.microsoft.com/office/drawing/2014/main" id="{6DCD21D8-6ADD-401B-A187-0DE0CAB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386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Portfolio covariance</a:t>
            </a:r>
          </a:p>
        </p:txBody>
      </p:sp>
      <p:sp>
        <p:nvSpPr>
          <p:cNvPr id="19" name="adaptive-body-3">
            <a:extLst xmlns:a="http://schemas.openxmlformats.org/drawingml/2006/main">
              <a:ext uri="{FF2B5EF4-FFF2-40B4-BE49-F238E27FC236}">
                <a16:creationId xmlns:a16="http://schemas.microsoft.com/office/drawing/2014/main" id="{F7D1DE1C-68AC-4A96-B757-887657F6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196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多资产库存风险使用动态协方差与收缩估计</a:t>
            </a:r>
          </a:p>
        </p:txBody>
      </p:sp>
      <p:sp>
        <p:nvSpPr>
          <p:cNvPr id="20" name="adaptive-check-4">
            <a:extLst xmlns:a="http://schemas.openxmlformats.org/drawingml/2006/main">
              <a:ext uri="{FF2B5EF4-FFF2-40B4-BE49-F238E27FC236}">
                <a16:creationId xmlns:a16="http://schemas.microsoft.com/office/drawing/2014/main" id="{BB0F91D9-00E1-408B-B237-DF6FAAF0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43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adaptive-heading-4">
            <a:extLst xmlns:a="http://schemas.openxmlformats.org/drawingml/2006/main">
              <a:ext uri="{FF2B5EF4-FFF2-40B4-BE49-F238E27FC236}">
                <a16:creationId xmlns:a16="http://schemas.microsoft.com/office/drawing/2014/main" id="{DEEE8D2D-A8B9-4367-A784-6112116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24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Robust sizing</a:t>
            </a:r>
          </a:p>
        </p:txBody>
      </p:sp>
      <p:sp>
        <p:nvSpPr>
          <p:cNvPr id="22" name="adaptive-body-4">
            <a:extLst xmlns:a="http://schemas.openxmlformats.org/drawingml/2006/main">
              <a:ext uri="{FF2B5EF4-FFF2-40B4-BE49-F238E27FC236}">
                <a16:creationId xmlns:a16="http://schemas.microsoft.com/office/drawing/2014/main" id="{B9ABBB2C-4C08-4E54-B5D6-E546ABE0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054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最坏参数场景与离散手数效用共同约束报价</a:t>
            </a:r>
          </a:p>
        </p:txBody>
      </p:sp>
    </p:spTree>
    <p:extLst>
      <p:ext uri="{BB962C8B-B14F-4D97-AF65-F5344CB8AC3E}">
        <p14:creationId xmlns:p14="http://schemas.microsoft.com/office/powerpoint/2010/main" val="1959756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B4F6D18-62BB-4AEB-AD77-CBE190FB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一笔订单必须穿过三个确定性阶段</a:t>
            </a:r>
          </a:p>
        </p:txBody>
      </p:sp>
      <p:sp>
        <p:nvSpPr>
          <p:cNvPr id="2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87B4D2E0-1C54-4D4C-BD2E-E5581E10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rule-42-338">
            <a:extLst xmlns:a="http://schemas.openxmlformats.org/drawingml/2006/main">
              <a:ext uri="{FF2B5EF4-FFF2-40B4-BE49-F238E27FC236}">
                <a16:creationId xmlns:a16="http://schemas.microsoft.com/office/drawing/2014/main" id="{41EEC1AF-9759-4AA2-8637-6E7833BF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milestone-dot-0">
            <a:extLst xmlns:a="http://schemas.openxmlformats.org/drawingml/2006/main">
              <a:ext uri="{FF2B5EF4-FFF2-40B4-BE49-F238E27FC236}">
                <a16:creationId xmlns:a16="http://schemas.microsoft.com/office/drawing/2014/main" id="{35A873AC-BD7F-4E4F-AEEC-1445F44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152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ilestone-label-0">
            <a:extLst xmlns:a="http://schemas.openxmlformats.org/drawingml/2006/main">
              <a:ext uri="{FF2B5EF4-FFF2-40B4-BE49-F238E27FC236}">
                <a16:creationId xmlns:a16="http://schemas.microsoft.com/office/drawing/2014/main" id="{85A0EF38-BAE8-4381-915C-7F028777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milestone-heading-0">
            <a:extLst xmlns:a="http://schemas.openxmlformats.org/drawingml/2006/main">
              <a:ext uri="{FF2B5EF4-FFF2-40B4-BE49-F238E27FC236}">
                <a16:creationId xmlns:a16="http://schemas.microsoft.com/office/drawing/2014/main" id="{02FC8B8C-02C6-47A3-AA59-B3C79230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76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报价意图</a:t>
            </a:r>
          </a:p>
        </p:txBody>
      </p:sp>
      <p:sp>
        <p:nvSpPr>
          <p:cNvPr id="7" name="milestone-body-0">
            <a:extLst xmlns:a="http://schemas.openxmlformats.org/drawingml/2006/main">
              <a:ext uri="{FF2B5EF4-FFF2-40B4-BE49-F238E27FC236}">
                <a16:creationId xmlns:a16="http://schemas.microsoft.com/office/drawing/2014/main" id="{4C593F2B-41C1-4DB6-9077-37578892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策略产出价格、方向、手数与标签；tick、最小价差和持仓容量仍由执行政策收敛。</a:t>
            </a:r>
          </a:p>
        </p:txBody>
      </p:sp>
      <p:sp>
        <p:nvSpPr>
          <p:cNvPr id="8" name="milestone-dot-1">
            <a:extLst xmlns:a="http://schemas.openxmlformats.org/drawingml/2006/main">
              <a:ext uri="{FF2B5EF4-FFF2-40B4-BE49-F238E27FC236}">
                <a16:creationId xmlns:a16="http://schemas.microsoft.com/office/drawing/2014/main" id="{1D344426-F951-49C6-8EFE-C4897476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52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ilestone-label-1">
            <a:extLst xmlns:a="http://schemas.openxmlformats.org/drawingml/2006/main">
              <a:ext uri="{FF2B5EF4-FFF2-40B4-BE49-F238E27FC236}">
                <a16:creationId xmlns:a16="http://schemas.microsoft.com/office/drawing/2014/main" id="{2998645D-76A2-4B90-ACF5-BC731694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milestone-heading-1">
            <a:extLst xmlns:a="http://schemas.openxmlformats.org/drawingml/2006/main">
              <a:ext uri="{FF2B5EF4-FFF2-40B4-BE49-F238E27FC236}">
                <a16:creationId xmlns:a16="http://schemas.microsoft.com/office/drawing/2014/main" id="{95D09A0A-82E6-4B8A-BB9F-74E5612C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风险与 OMS</a:t>
            </a:r>
          </a:p>
        </p:txBody>
      </p:sp>
      <p:sp>
        <p:nvSpPr>
          <p:cNvPr id="11" name="milestone-body-1">
            <a:extLst xmlns:a="http://schemas.openxmlformats.org/drawingml/2006/main">
              <a:ext uri="{FF2B5EF4-FFF2-40B4-BE49-F238E27FC236}">
                <a16:creationId xmlns:a16="http://schemas.microsoft.com/office/drawing/2014/main" id="{53F09EBA-B7BE-4C21-808A-395C02A6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24350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pre-trade 风控、capability mode 与 outbound gate 共同决定是否允许发送。拒绝原因可追踪。</a:t>
            </a:r>
          </a:p>
        </p:txBody>
      </p:sp>
      <p:sp>
        <p:nvSpPr>
          <p:cNvPr id="12" name="milestone-dot-2">
            <a:extLst xmlns:a="http://schemas.openxmlformats.org/drawingml/2006/main">
              <a:ext uri="{FF2B5EF4-FFF2-40B4-BE49-F238E27FC236}">
                <a16:creationId xmlns:a16="http://schemas.microsoft.com/office/drawing/2014/main" id="{BD6850C3-E958-4313-9CD8-E166D9D7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52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ilestone-label-2">
            <a:extLst xmlns:a="http://schemas.openxmlformats.org/drawingml/2006/main">
              <a:ext uri="{FF2B5EF4-FFF2-40B4-BE49-F238E27FC236}">
                <a16:creationId xmlns:a16="http://schemas.microsoft.com/office/drawing/2014/main" id="{586A93C3-6CCA-4D7F-929E-EB0CD46B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milestone-heading-2">
            <a:extLst xmlns:a="http://schemas.openxmlformats.org/drawingml/2006/main">
              <a:ext uri="{FF2B5EF4-FFF2-40B4-BE49-F238E27FC236}">
                <a16:creationId xmlns:a16="http://schemas.microsoft.com/office/drawing/2014/main" id="{D80A81E5-EC9C-494F-858F-EA89390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回报与对账</a:t>
            </a:r>
          </a:p>
        </p:txBody>
      </p:sp>
      <p:sp>
        <p:nvSpPr>
          <p:cNvPr id="15" name="milestone-body-2">
            <a:extLst xmlns:a="http://schemas.openxmlformats.org/drawingml/2006/main">
              <a:ext uri="{FF2B5EF4-FFF2-40B4-BE49-F238E27FC236}">
                <a16:creationId xmlns:a16="http://schemas.microsoft.com/office/drawing/2014/main" id="{EC58FB3D-9350-4654-8772-3373B6CA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ACK、fill、cancel 和账户真相进入 execution lane；未知状态触发重查、冻结或人工 rearm。</a:t>
            </a:r>
          </a:p>
        </p:txBody>
      </p:sp>
    </p:spTree>
    <p:extLst>
      <p:ext uri="{BB962C8B-B14F-4D97-AF65-F5344CB8AC3E}">
        <p14:creationId xmlns:p14="http://schemas.microsoft.com/office/powerpoint/2010/main" val="36062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345220A-B05F-4283-9DEE-2C24D81E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系统默认失败关闭，而不是继续赌状态</a:t>
            </a:r>
          </a:p>
        </p:txBody>
      </p:sp>
      <p:sp>
        <p:nvSpPr>
          <p:cNvPr id="2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053D6153-4FED-409B-BDB9-35CAFEED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afety-message">
            <a:extLst xmlns:a="http://schemas.openxmlformats.org/drawingml/2006/main">
              <a:ext uri="{FF2B5EF4-FFF2-40B4-BE49-F238E27FC236}">
                <a16:creationId xmlns:a16="http://schemas.microsoft.com/office/drawing/2014/main" id="{F64D52D6-73A6-4BC6-BBF2-B0036769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当行情、账户、时钟、持久化或交易所真相不再可信，系统会冻结能力、关闭发送闸门，并要求可审计的恢复步骤。</a:t>
            </a:r>
          </a:p>
        </p:txBody>
      </p:sp>
      <p:sp>
        <p:nvSpPr>
          <p:cNvPr id="4" name="card-发送前">
            <a:extLst xmlns:a="http://schemas.openxmlformats.org/drawingml/2006/main">
              <a:ext uri="{FF2B5EF4-FFF2-40B4-BE49-F238E27FC236}">
                <a16:creationId xmlns:a16="http://schemas.microsoft.com/office/drawing/2014/main" id="{988A72D2-FDFD-41FA-A176-F6FDF35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56235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d-heading-发送前">
            <a:extLst xmlns:a="http://schemas.openxmlformats.org/drawingml/2006/main">
              <a:ext uri="{FF2B5EF4-FFF2-40B4-BE49-F238E27FC236}">
                <a16:creationId xmlns:a16="http://schemas.microsoft.com/office/drawing/2014/main" id="{4A34FE60-B4BB-4DF9-97F6-99F68AB4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发送前</a:t>
            </a:r>
          </a:p>
        </p:txBody>
      </p:sp>
      <p:sp>
        <p:nvSpPr>
          <p:cNvPr id="6" name="card-body-发送前">
            <a:extLst xmlns:a="http://schemas.openxmlformats.org/drawingml/2006/main">
              <a:ext uri="{FF2B5EF4-FFF2-40B4-BE49-F238E27FC236}">
                <a16:creationId xmlns:a16="http://schemas.microsoft.com/office/drawing/2014/main" id="{DF516BDB-FF81-4C9D-9D6F-0EB24068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3067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价格合理性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名义金额与持仓上限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post-only / reduce-only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模型 readiness</a:t>
            </a:r>
          </a:p>
        </p:txBody>
      </p:sp>
      <p:sp>
        <p:nvSpPr>
          <p:cNvPr id="7" name="card-运行中">
            <a:extLst xmlns:a="http://schemas.openxmlformats.org/drawingml/2006/main">
              <a:ext uri="{FF2B5EF4-FFF2-40B4-BE49-F238E27FC236}">
                <a16:creationId xmlns:a16="http://schemas.microsoft.com/office/drawing/2014/main" id="{EF49EB27-BE14-434B-8345-024C7559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56235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E7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-heading-运行中">
            <a:extLst xmlns:a="http://schemas.openxmlformats.org/drawingml/2006/main">
              <a:ext uri="{FF2B5EF4-FFF2-40B4-BE49-F238E27FC236}">
                <a16:creationId xmlns:a16="http://schemas.microsoft.com/office/drawing/2014/main" id="{0E79D041-4AE7-473F-AAC8-51A1F1F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718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运行中</a:t>
            </a:r>
          </a:p>
        </p:txBody>
      </p:sp>
      <p:sp>
        <p:nvSpPr>
          <p:cNvPr id="9" name="card-body-运行中">
            <a:extLst xmlns:a="http://schemas.openxmlformats.org/drawingml/2006/main">
              <a:ext uri="{FF2B5EF4-FFF2-40B4-BE49-F238E27FC236}">
                <a16:creationId xmlns:a16="http://schemas.microsoft.com/office/drawing/2014/main" id="{D9BEB569-E88C-44F2-A6A2-5D87195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62400"/>
            <a:ext cx="3067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行情新鲜度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ACK timeout 与重查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API 配额与重连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黑天鹅与日损失</a:t>
            </a:r>
          </a:p>
        </p:txBody>
      </p:sp>
      <p:sp>
        <p:nvSpPr>
          <p:cNvPr id="10" name="card-恢复时">
            <a:extLst xmlns:a="http://schemas.openxmlformats.org/drawingml/2006/main">
              <a:ext uri="{FF2B5EF4-FFF2-40B4-BE49-F238E27FC236}">
                <a16:creationId xmlns:a16="http://schemas.microsoft.com/office/drawing/2014/main" id="{CB6F15F8-52D0-490E-B673-C6D39CA8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235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heading-恢复时">
            <a:extLst xmlns:a="http://schemas.openxmlformats.org/drawingml/2006/main">
              <a:ext uri="{FF2B5EF4-FFF2-40B4-BE49-F238E27FC236}">
                <a16:creationId xmlns:a16="http://schemas.microsoft.com/office/drawing/2014/main" id="{28C60E62-A786-41A6-BC76-18CFAF77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恢复时</a:t>
            </a:r>
          </a:p>
        </p:txBody>
      </p:sp>
      <p:sp>
        <p:nvSpPr>
          <p:cNvPr id="12" name="card-body-恢复时">
            <a:extLst xmlns:a="http://schemas.openxmlformats.org/drawingml/2006/main">
              <a:ext uri="{FF2B5EF4-FFF2-40B4-BE49-F238E27FC236}">
                <a16:creationId xmlns:a16="http://schemas.microsoft.com/office/drawing/2014/main" id="{FBFD36E7-82EF-4592-90CC-AE770B51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3067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fsync JSONL journal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启动重放与 reconciliation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独立 supervisor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两阶段人工 rearm</a:t>
            </a:r>
          </a:p>
        </p:txBody>
      </p:sp>
    </p:spTree>
    <p:extLst>
      <p:ext uri="{BB962C8B-B14F-4D97-AF65-F5344CB8AC3E}">
        <p14:creationId xmlns:p14="http://schemas.microsoft.com/office/powerpoint/2010/main" val="136166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8C46961-2226-409C-9DDB-D9278329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Paper 与 Live 共享行情，不共享成交真相</a:t>
            </a:r>
          </a:p>
        </p:txBody>
      </p:sp>
      <p:sp>
        <p:nvSpPr>
          <p:cNvPr id="2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B9D32731-ED91-4687-9D9B-ADE5B4ED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paper-live-intro">
            <a:extLst xmlns:a="http://schemas.openxmlformats.org/drawingml/2006/main">
              <a:ext uri="{FF2B5EF4-FFF2-40B4-BE49-F238E27FC236}">
                <a16:creationId xmlns:a16="http://schemas.microsoft.com/office/drawing/2014/main" id="{8C2473DB-260E-4DCF-931B-3A22998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Paper 用生产公开行情驱动本地模拟器；这能验证系统行为，却不能证明真实 RPI 排队位置、零售对手方资格或成交概率。</a:t>
            </a:r>
          </a:p>
        </p:txBody>
      </p:sp>
      <p:sp>
        <p:nvSpPr>
          <p:cNvPr id="4" name="paper-panel">
            <a:extLst xmlns:a="http://schemas.openxmlformats.org/drawingml/2006/main">
              <a:ext uri="{FF2B5EF4-FFF2-40B4-BE49-F238E27FC236}">
                <a16:creationId xmlns:a16="http://schemas.microsoft.com/office/drawing/2014/main" id="{7942CAD3-12AF-4059-B8A1-737E3B5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534025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7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per-heading">
            <a:extLst xmlns:a="http://schemas.openxmlformats.org/drawingml/2006/main">
              <a:ext uri="{FF2B5EF4-FFF2-40B4-BE49-F238E27FC236}">
                <a16:creationId xmlns:a16="http://schemas.microsoft.com/office/drawing/2014/main" id="{E4EE7A5D-3854-4BDE-8C8F-F85F49DC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PAPER</a:t>
            </a:r>
          </a:p>
        </p:txBody>
      </p:sp>
      <p:sp>
        <p:nvSpPr>
          <p:cNvPr id="6" name="paper-truth">
            <a:extLst xmlns:a="http://schemas.openxmlformats.org/drawingml/2006/main">
              <a:ext uri="{FF2B5EF4-FFF2-40B4-BE49-F238E27FC236}">
                <a16:creationId xmlns:a16="http://schemas.microsoft.com/office/drawing/2014/main" id="{7869405E-00B3-4BA5-AF88-20D6F7CD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BINANCE_MAINNET_PUBLIC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LOCAL_SIMULATOR</a:t>
            </a:r>
          </a:p>
        </p:txBody>
      </p:sp>
      <p:sp>
        <p:nvSpPr>
          <p:cNvPr id="7" name="live-panel">
            <a:extLst xmlns:a="http://schemas.openxmlformats.org/drawingml/2006/main">
              <a:ext uri="{FF2B5EF4-FFF2-40B4-BE49-F238E27FC236}">
                <a16:creationId xmlns:a16="http://schemas.microsoft.com/office/drawing/2014/main" id="{41B62B8E-DC7D-4DA0-810B-FD701609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5534025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ive-heading">
            <a:extLst xmlns:a="http://schemas.openxmlformats.org/drawingml/2006/main">
              <a:ext uri="{FF2B5EF4-FFF2-40B4-BE49-F238E27FC236}">
                <a16:creationId xmlns:a16="http://schemas.microsoft.com/office/drawing/2014/main" id="{03785829-E4F6-4126-BAA4-A598C4A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76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LIVE</a:t>
            </a:r>
          </a:p>
        </p:txBody>
      </p:sp>
      <p:sp>
        <p:nvSpPr>
          <p:cNvPr id="9" name="live-truth">
            <a:extLst xmlns:a="http://schemas.openxmlformats.org/drawingml/2006/main">
              <a:ext uri="{FF2B5EF4-FFF2-40B4-BE49-F238E27FC236}">
                <a16:creationId xmlns:a16="http://schemas.microsoft.com/office/drawing/2014/main" id="{BA2D2941-ABEA-46C4-821C-B0B4F115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PRIVATE API + USER STREAM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真实交易所订单与账户</a:t>
            </a:r>
          </a:p>
        </p:txBody>
      </p:sp>
      <p:sp>
        <p:nvSpPr>
          <p:cNvPr id="10" name="paper-detail">
            <a:extLst xmlns:a="http://schemas.openxmlformats.org/drawingml/2006/main">
              <a:ext uri="{FF2B5EF4-FFF2-40B4-BE49-F238E27FC236}">
                <a16:creationId xmlns:a16="http://schemas.microsoft.com/office/drawing/2014/main" id="{4CF3375B-70C1-4AD1-86AA-3A69A221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可验证：报价逻辑、风控、OMS、时延、日志、模型候选。</a:t>
            </a:r>
          </a:p>
        </p:txBody>
      </p:sp>
      <p:sp>
        <p:nvSpPr>
          <p:cNvPr id="11" name="live-detail">
            <a:extLst xmlns:a="http://schemas.openxmlformats.org/drawingml/2006/main">
              <a:ext uri="{FF2B5EF4-FFF2-40B4-BE49-F238E27FC236}">
                <a16:creationId xmlns:a16="http://schemas.microsoft.com/office/drawing/2014/main" id="{030CBAC6-8D28-4732-B5F1-C92DBFD0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339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仍需：签名 permit、真实 RPI ACK、限额校准单和 OOS 证据闭环。</a:t>
            </a:r>
          </a:p>
        </p:txBody>
      </p:sp>
    </p:spTree>
    <p:extLst>
      <p:ext uri="{BB962C8B-B14F-4D97-AF65-F5344CB8AC3E}">
        <p14:creationId xmlns:p14="http://schemas.microsoft.com/office/powerpoint/2010/main" val="1167715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1BAF2CA-0406-4E99-9169-46AC215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SQLite v4 把 Paper 运行变成可校准数据</a:t>
            </a:r>
          </a:p>
        </p:txBody>
      </p:sp>
      <p:sp>
        <p:nvSpPr>
          <p:cNvPr id="2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64F3C3BD-0619-4217-AC8B-225C7F5C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database-intro">
            <a:extLst xmlns:a="http://schemas.openxmlformats.org/drawingml/2006/main">
              <a:ext uri="{FF2B5EF4-FFF2-40B4-BE49-F238E27FC236}">
                <a16:creationId xmlns:a16="http://schemas.microsoft.com/office/drawing/2014/main" id="{073FAD01-1754-404C-9BB2-7EAB4634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JSONL journal 是审计真相；SQLite 是异步、可查询、可迁移的观测投影。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924050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29150"/>
                <a:gridCol w="2571750"/>
                <a:gridCol w="2381250"/>
              </a:tblGrid>
              <a:tr h="511969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记录内容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主要用途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fills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成交、费用、触发交易、队列与报价年龄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PnL / 成交质量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每笔</a:t>
                      </a:r>
                    </a:p>
                  </a:txBody>
                  <a:tcPr marL="95250" marR="95250" marT="66675" marB="66675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order_events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NEW / partial / cancel / reject / expire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右删失暴露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每状态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strategy_samples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mid、fair、A/k、流毒性、时延、公式版本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决策解释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s / symbol</a:t>
                      </a:r>
                    </a:p>
                  </a:txBody>
                  <a:tcPr marL="95250" marR="95250" marT="66675" marB="66675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fill_markouts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/ 500 / 1000 ms signed markout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逆向选择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每成交×期限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account_samples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equity、margin、预算与现金流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风险归因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s</a:t>
                      </a:r>
                    </a:p>
                  </a:txBody>
                  <a:tcPr marL="95250" marR="95250" marT="66675" marB="66675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system_events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freeze、reconnect、watchdog、API weight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技术健康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每异常</a:t>
                      </a:r>
                    </a:p>
                  </a:txBody>
                  <a:tcPr marL="95250" marR="95250" marT="66675" marB="66675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market_samples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mark/index、basis、funding 与链路时延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市场状态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s / symbol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9659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9C01600F-581B-4FD0-8DC6-38075681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模型校准是离线候选流程，不会自动接管报价</a:t>
            </a:r>
          </a:p>
        </p:txBody>
      </p:sp>
      <p:sp>
        <p:nvSpPr>
          <p:cNvPr id="2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48EEDD5A-5C44-41BF-8934-658A45CB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rule-42-592">
            <a:extLst xmlns:a="http://schemas.openxmlformats.org/drawingml/2006/main">
              <a:ext uri="{FF2B5EF4-FFF2-40B4-BE49-F238E27FC236}">
                <a16:creationId xmlns:a16="http://schemas.microsoft.com/office/drawing/2014/main" id="{A51ED677-CEA2-4CB0-A63C-F4AEB395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card-记录">
            <a:extLst xmlns:a="http://schemas.openxmlformats.org/drawingml/2006/main">
              <a:ext uri="{FF2B5EF4-FFF2-40B4-BE49-F238E27FC236}">
                <a16:creationId xmlns:a16="http://schemas.microsoft.com/office/drawing/2014/main" id="{A726DEDD-54B4-4F7E-8F9F-DF708EB6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62350" cy="361950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d-heading-记录">
            <a:extLst xmlns:a="http://schemas.openxmlformats.org/drawingml/2006/main">
              <a:ext uri="{FF2B5EF4-FFF2-40B4-BE49-F238E27FC236}">
                <a16:creationId xmlns:a16="http://schemas.microsoft.com/office/drawing/2014/main" id="{8E93F01F-B02A-4A78-8F1E-3AE2DDFF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6" name="card-body-记录">
            <a:extLst xmlns:a="http://schemas.openxmlformats.org/drawingml/2006/main">
              <a:ext uri="{FF2B5EF4-FFF2-40B4-BE49-F238E27FC236}">
                <a16:creationId xmlns:a16="http://schemas.microsoft.com/office/drawing/2014/main" id="{D5C09282-92AB-4A5E-9398-D4C16CAC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30670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挂单暴露与未成交撤单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实际 fills 与 queue context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条件 markout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basis、funding、时延</a:t>
            </a:r>
          </a:p>
        </p:txBody>
      </p:sp>
      <p:sp>
        <p:nvSpPr>
          <p:cNvPr id="7" name="card-估计">
            <a:extLst xmlns:a="http://schemas.openxmlformats.org/drawingml/2006/main">
              <a:ext uri="{FF2B5EF4-FFF2-40B4-BE49-F238E27FC236}">
                <a16:creationId xmlns:a16="http://schemas.microsoft.com/office/drawing/2014/main" id="{976E9D01-D522-4831-90D0-C0AB3DBF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90700"/>
            <a:ext cx="3562350" cy="361950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E7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-heading-估计">
            <a:extLst xmlns:a="http://schemas.openxmlformats.org/drawingml/2006/main">
              <a:ext uri="{FF2B5EF4-FFF2-40B4-BE49-F238E27FC236}">
                <a16:creationId xmlns:a16="http://schemas.microsoft.com/office/drawing/2014/main" id="{3E8DD0A1-B30F-45BA-9BB8-9A06E21E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193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估计</a:t>
            </a:r>
          </a:p>
        </p:txBody>
      </p:sp>
      <p:sp>
        <p:nvSpPr>
          <p:cNvPr id="9" name="card-body-估计">
            <a:extLst xmlns:a="http://schemas.openxmlformats.org/drawingml/2006/main">
              <a:ext uri="{FF2B5EF4-FFF2-40B4-BE49-F238E27FC236}">
                <a16:creationId xmlns:a16="http://schemas.microsoft.com/office/drawing/2014/main" id="{CCC96E07-CBE7-4D5E-A134-DA0DB28E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09850"/>
            <a:ext cx="30670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A/k：右删失强度似然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markout：标准化 ridge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严格 causal as-of join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 symbol × side 建模</a:t>
            </a:r>
          </a:p>
        </p:txBody>
      </p:sp>
      <p:sp>
        <p:nvSpPr>
          <p:cNvPr id="10" name="card-验证">
            <a:extLst xmlns:a="http://schemas.openxmlformats.org/drawingml/2006/main">
              <a:ext uri="{FF2B5EF4-FFF2-40B4-BE49-F238E27FC236}">
                <a16:creationId xmlns:a16="http://schemas.microsoft.com/office/drawing/2014/main" id="{227FA140-B53A-45EF-98F5-14D2EE77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562350" cy="361950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heading-验证">
            <a:extLst xmlns:a="http://schemas.openxmlformats.org/drawingml/2006/main">
              <a:ext uri="{FF2B5EF4-FFF2-40B4-BE49-F238E27FC236}">
                <a16:creationId xmlns:a16="http://schemas.microsoft.com/office/drawing/2014/main" id="{C1027617-8BC2-4743-A487-D1311D4D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2" name="card-body-验证">
            <a:extLst xmlns:a="http://schemas.openxmlformats.org/drawingml/2006/main">
              <a:ext uri="{FF2B5EF4-FFF2-40B4-BE49-F238E27FC236}">
                <a16:creationId xmlns:a16="http://schemas.microsoft.com/office/drawing/2014/main" id="{0492C7C2-222D-454E-B17E-BAE7D182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30670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时间块 bootstrap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chronological walk-forward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常数基线比较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SHA256 固化产物</a:t>
            </a:r>
          </a:p>
        </p:txBody>
      </p:sp>
      <p:sp>
        <p:nvSpPr>
          <p:cNvPr id="13" name="cal-step-1">
            <a:extLst xmlns:a="http://schemas.openxmlformats.org/drawingml/2006/main">
              <a:ext uri="{FF2B5EF4-FFF2-40B4-BE49-F238E27FC236}">
                <a16:creationId xmlns:a16="http://schemas.microsoft.com/office/drawing/2014/main" id="{E6ABF8BB-1D2D-45C5-B2CD-385FA999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cal-step-2">
            <a:extLst xmlns:a="http://schemas.openxmlformats.org/drawingml/2006/main">
              <a:ext uri="{FF2B5EF4-FFF2-40B4-BE49-F238E27FC236}">
                <a16:creationId xmlns:a16="http://schemas.microsoft.com/office/drawing/2014/main" id="{BA2399F6-91DC-4EBE-8644-60CA960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810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cal-step-3">
            <a:extLst xmlns:a="http://schemas.openxmlformats.org/drawingml/2006/main">
              <a:ext uri="{FF2B5EF4-FFF2-40B4-BE49-F238E27FC236}">
                <a16:creationId xmlns:a16="http://schemas.microsoft.com/office/drawing/2014/main" id="{FC2A9AA5-F0E0-4ACD-B151-C5B2050A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810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alibration-boundary">
            <a:extLst xmlns:a="http://schemas.openxmlformats.org/drawingml/2006/main">
              <a:ext uri="{FF2B5EF4-FFF2-40B4-BE49-F238E27FC236}">
                <a16:creationId xmlns:a16="http://schemas.microsoft.com/office/drawing/2014/main" id="{BBE72958-BEA3-4156-B162-2748B27E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candidate_only = true    |    activation_permitted = false</a:t>
            </a:r>
          </a:p>
        </p:txBody>
      </p:sp>
    </p:spTree>
    <p:extLst>
      <p:ext uri="{BB962C8B-B14F-4D97-AF65-F5344CB8AC3E}">
        <p14:creationId xmlns:p14="http://schemas.microsoft.com/office/powerpoint/2010/main" val="16249589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B70272D-FD21-4805-93BD-DDC49B07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AWS 部署路径已经收敛为三步</a:t>
            </a:r>
          </a:p>
        </p:txBody>
      </p:sp>
      <p:sp>
        <p:nvSpPr>
          <p:cNvPr id="2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DA9C7E8C-8A8B-4583-BB4B-9EBD079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rule-42-338">
            <a:extLst xmlns:a="http://schemas.openxmlformats.org/drawingml/2006/main">
              <a:ext uri="{FF2B5EF4-FFF2-40B4-BE49-F238E27FC236}">
                <a16:creationId xmlns:a16="http://schemas.microsoft.com/office/drawing/2014/main" id="{94B01520-7DC7-4A62-AE5D-7F005AA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ops-dot-0">
            <a:extLst xmlns:a="http://schemas.openxmlformats.org/drawingml/2006/main">
              <a:ext uri="{FF2B5EF4-FFF2-40B4-BE49-F238E27FC236}">
                <a16:creationId xmlns:a16="http://schemas.microsoft.com/office/drawing/2014/main" id="{3856BDAF-6276-4688-A8E3-7BF100C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152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ps-label-0">
            <a:extLst xmlns:a="http://schemas.openxmlformats.org/drawingml/2006/main">
              <a:ext uri="{FF2B5EF4-FFF2-40B4-BE49-F238E27FC236}">
                <a16:creationId xmlns:a16="http://schemas.microsoft.com/office/drawing/2014/main" id="{E1624B10-D1CA-49CA-B5C9-960FC6E3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ops-heading-0">
            <a:extLst xmlns:a="http://schemas.openxmlformats.org/drawingml/2006/main">
              <a:ext uri="{FF2B5EF4-FFF2-40B4-BE49-F238E27FC236}">
                <a16:creationId xmlns:a16="http://schemas.microsoft.com/office/drawing/2014/main" id="{D296854A-1CF3-4EAB-992C-7674EF0D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76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Clone + bootstrap</a:t>
            </a:r>
          </a:p>
        </p:txBody>
      </p:sp>
      <p:sp>
        <p:nvSpPr>
          <p:cNvPr id="7" name="ops-body-0">
            <a:extLst xmlns:a="http://schemas.openxmlformats.org/drawingml/2006/main">
              <a:ext uri="{FF2B5EF4-FFF2-40B4-BE49-F238E27FC236}">
                <a16:creationId xmlns:a16="http://schemas.microsoft.com/office/drawing/2014/main" id="{5E42C90C-82A3-46C0-8DE6-D122DE2C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锁定 uv、CPython 与 uv.lock；配置检查固定为 Paper，不触碰主机 Python。</a:t>
            </a:r>
          </a:p>
        </p:txBody>
      </p:sp>
      <p:sp>
        <p:nvSpPr>
          <p:cNvPr id="8" name="ops-dot-1">
            <a:extLst xmlns:a="http://schemas.openxmlformats.org/drawingml/2006/main">
              <a:ext uri="{FF2B5EF4-FFF2-40B4-BE49-F238E27FC236}">
                <a16:creationId xmlns:a16="http://schemas.microsoft.com/office/drawing/2014/main" id="{42CE25EA-AE83-4CD1-876F-2DC13DF8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52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ps-label-1">
            <a:extLst xmlns:a="http://schemas.openxmlformats.org/drawingml/2006/main">
              <a:ext uri="{FF2B5EF4-FFF2-40B4-BE49-F238E27FC236}">
                <a16:creationId xmlns:a16="http://schemas.microsoft.com/office/drawing/2014/main" id="{843FD494-BD0C-4F72-9384-512E350E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ops-heading-1">
            <a:extLst xmlns:a="http://schemas.openxmlformats.org/drawingml/2006/main">
              <a:ext uri="{FF2B5EF4-FFF2-40B4-BE49-F238E27FC236}">
                <a16:creationId xmlns:a16="http://schemas.microsoft.com/office/drawing/2014/main" id="{A1CB78D7-1CBB-4F13-9A8C-E124D253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systemd service</a:t>
            </a:r>
          </a:p>
        </p:txBody>
      </p:sp>
      <p:sp>
        <p:nvSpPr>
          <p:cNvPr id="11" name="ops-body-1">
            <a:extLst xmlns:a="http://schemas.openxmlformats.org/drawingml/2006/main">
              <a:ext uri="{FF2B5EF4-FFF2-40B4-BE49-F238E27FC236}">
                <a16:creationId xmlns:a16="http://schemas.microsoft.com/office/drawing/2014/main" id="{ACED5796-9E63-4AC5-8287-3C25940E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243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非 root 用户运行；拒绝重复 Python 进程；SIGINT 触发撤单、持久化与有序退出。</a:t>
            </a:r>
          </a:p>
        </p:txBody>
      </p:sp>
      <p:sp>
        <p:nvSpPr>
          <p:cNvPr id="12" name="ops-dot-2">
            <a:extLst xmlns:a="http://schemas.openxmlformats.org/drawingml/2006/main">
              <a:ext uri="{FF2B5EF4-FFF2-40B4-BE49-F238E27FC236}">
                <a16:creationId xmlns:a16="http://schemas.microsoft.com/office/drawing/2014/main" id="{FC710F0D-7D1A-4BE5-AB74-1EC0ABD0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52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ps-label-2">
            <a:extLst xmlns:a="http://schemas.openxmlformats.org/drawingml/2006/main">
              <a:ext uri="{FF2B5EF4-FFF2-40B4-BE49-F238E27FC236}">
                <a16:creationId xmlns:a16="http://schemas.microsoft.com/office/drawing/2014/main" id="{5643231C-FE89-4F4D-A89E-6660F10E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ops-heading-2">
            <a:extLst xmlns:a="http://schemas.openxmlformats.org/drawingml/2006/main">
              <a:ext uri="{FF2B5EF4-FFF2-40B4-BE49-F238E27FC236}">
                <a16:creationId xmlns:a16="http://schemas.microsoft.com/office/drawing/2014/main" id="{72334C07-1A9E-4776-B275-C39D937E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SSH tunnel</a:t>
            </a:r>
          </a:p>
        </p:txBody>
      </p:sp>
      <p:sp>
        <p:nvSpPr>
          <p:cNvPr id="15" name="ops-body-2">
            <a:extLst xmlns:a="http://schemas.openxmlformats.org/drawingml/2006/main">
              <a:ext uri="{FF2B5EF4-FFF2-40B4-BE49-F238E27FC236}">
                <a16:creationId xmlns:a16="http://schemas.microsoft.com/office/drawing/2014/main" id="{E6CF29BF-3CBF-4ED9-B70B-B71F75E1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Dashboard 仅监听 127.0.0.1:8765；安全组无需开放 8765。</a:t>
            </a:r>
          </a:p>
        </p:txBody>
      </p:sp>
      <p:sp>
        <p:nvSpPr>
          <p:cNvPr id="16" name="aws-profile">
            <a:extLst xmlns:a="http://schemas.openxmlformats.org/drawingml/2006/main">
              <a:ext uri="{FF2B5EF4-FFF2-40B4-BE49-F238E27FC236}">
                <a16:creationId xmlns:a16="http://schemas.microsoft.com/office/drawing/2014/main" id="{C84DDF1A-A115-43B0-8D41-E9A29FB0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当前 Paper profile：t3.small · 10,000 USDT · SNDKUSDT</a:t>
            </a:r>
          </a:p>
        </p:txBody>
      </p:sp>
    </p:spTree>
    <p:extLst>
      <p:ext uri="{BB962C8B-B14F-4D97-AF65-F5344CB8AC3E}">
        <p14:creationId xmlns:p14="http://schemas.microsoft.com/office/powerpoint/2010/main" val="9938744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">
            <a:extLst xmlns:a="http://schemas.openxmlformats.org/drawingml/2006/main">
              <a:ext uri="{FF2B5EF4-FFF2-40B4-BE49-F238E27FC236}">
                <a16:creationId xmlns:a16="http://schemas.microsoft.com/office/drawing/2014/main" id="{31F898EB-584B-42C2-A9E2-F5F49939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CURRENT READINESS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E2857C7-1BB7-42DC-A558-2772B92D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57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继续积累 Paper 证据，</a:t>
            </a:r>
          </a:p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但不要把模拟成交当成 Live 优势</a:t>
            </a:r>
          </a:p>
        </p:txBody>
      </p:sp>
      <p:sp>
        <p:nvSpPr>
          <p:cNvPr id="3" name="rule-42-466">
            <a:extLst xmlns:a="http://schemas.openxmlformats.org/drawingml/2006/main">
              <a:ext uri="{FF2B5EF4-FFF2-40B4-BE49-F238E27FC236}">
                <a16:creationId xmlns:a16="http://schemas.microsoft.com/office/drawing/2014/main" id="{B8216AA5-A84C-4F2E-AFF9-DFE5306F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4" name="closing-now">
            <a:extLst xmlns:a="http://schemas.openxmlformats.org/drawingml/2006/main">
              <a:ext uri="{FF2B5EF4-FFF2-40B4-BE49-F238E27FC236}">
                <a16:creationId xmlns:a16="http://schemas.microsoft.com/office/drawing/2014/main" id="{6D55D573-399F-4D66-99EC-C85B9B68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现在：验证稳定性、逆向选择、A/k 与 markout OOS</a:t>
            </a:r>
          </a:p>
        </p:txBody>
      </p:sp>
      <p:sp>
        <p:nvSpPr>
          <p:cNvPr id="5" name="closing-next">
            <a:extLst xmlns:a="http://schemas.openxmlformats.org/drawingml/2006/main">
              <a:ext uri="{FF2B5EF4-FFF2-40B4-BE49-F238E27FC236}">
                <a16:creationId xmlns:a16="http://schemas.microsoft.com/office/drawing/2014/main" id="{70B88355-94D3-4578-B80E-D7BF02B4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下一步：在线影子估计，不自动影响订单</a:t>
            </a:r>
          </a:p>
        </p:txBody>
      </p:sp>
      <p:sp>
        <p:nvSpPr>
          <p:cNvPr id="6" name="closing-live">
            <a:extLst xmlns:a="http://schemas.openxmlformats.org/drawingml/2006/main">
              <a:ext uri="{FF2B5EF4-FFF2-40B4-BE49-F238E27FC236}">
                <a16:creationId xmlns:a16="http://schemas.microsoft.com/office/drawing/2014/main" id="{25638475-24E6-4B14-BB24-BD7EA85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Live 前：真实 RPI ACK、签名授权、限额校准与晋升门槛</a:t>
            </a:r>
          </a:p>
        </p:txBody>
      </p:sp>
    </p:spTree>
    <p:extLst>
      <p:ext uri="{BB962C8B-B14F-4D97-AF65-F5344CB8AC3E}">
        <p14:creationId xmlns:p14="http://schemas.microsoft.com/office/powerpoint/2010/main" val="1990491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2026-07-31T11:45:06.5250000Z</dcterms:created>
  <dcterms:modified xsi:type="dcterms:W3CDTF">2026-07-31T11:45:06.5250000Z</dcterms:modified>
</coreProperties>
</file>